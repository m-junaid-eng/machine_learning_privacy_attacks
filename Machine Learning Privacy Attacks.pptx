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ED8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238125"/>
            <a:ext cx="8477250" cy="4667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34188" y="1081088"/>
            <a:ext cx="157638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575" spc="158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12/18/2025</a:t>
            </a:r>
            <a:endParaRPr lang="en-US" sz="1575" dirty="0"/>
          </a:p>
        </p:txBody>
      </p:sp>
      <p:sp>
        <p:nvSpPr>
          <p:cNvPr id="4" name="Text 1"/>
          <p:cNvSpPr/>
          <p:nvPr/>
        </p:nvSpPr>
        <p:spPr>
          <a:xfrm>
            <a:off x="1685925" y="881063"/>
            <a:ext cx="5019675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250"/>
              </a:lnSpc>
              <a:buNone/>
            </a:pPr>
            <a:r>
              <a:rPr lang="en-US" sz="9300" spc="-93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ml Privacy </a:t>
            </a:r>
            <a:endParaRPr lang="en-US" sz="9300" dirty="0"/>
          </a:p>
        </p:txBody>
      </p:sp>
      <p:sp>
        <p:nvSpPr>
          <p:cNvPr id="5" name="Text 2"/>
          <p:cNvSpPr/>
          <p:nvPr/>
        </p:nvSpPr>
        <p:spPr>
          <a:xfrm>
            <a:off x="3814763" y="2386013"/>
            <a:ext cx="4595813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4250"/>
              </a:lnSpc>
              <a:buNone/>
            </a:pPr>
            <a:r>
              <a:rPr lang="en-US" sz="9300" spc="-93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Attacks</a:t>
            </a:r>
            <a:endParaRPr lang="en-US" sz="9300" dirty="0"/>
          </a:p>
        </p:txBody>
      </p:sp>
      <p:sp>
        <p:nvSpPr>
          <p:cNvPr id="6" name="Text 3"/>
          <p:cNvSpPr/>
          <p:nvPr/>
        </p:nvSpPr>
        <p:spPr>
          <a:xfrm>
            <a:off x="1057275" y="3290888"/>
            <a:ext cx="2486025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75" spc="158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– MUHAMMAD JUNAID  – BITF22M035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4667250" y="3914775"/>
            <a:ext cx="3743325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12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Comprehensive Analysis of 14 Foundational Research Papers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90825" y="3152775"/>
            <a:ext cx="2671763" cy="15049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805488" y="3152775"/>
            <a:ext cx="1785938" cy="150495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1533525" y="1243013"/>
            <a:ext cx="2933700" cy="140017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605338" y="1243013"/>
            <a:ext cx="3071813" cy="1400175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09575" y="266700"/>
            <a:ext cx="258603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200" spc="36" kern="0" dirty="0">
                <a:solidFill>
                  <a:srgbClr val="FF6A3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Presentation 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05338" y="1243013"/>
            <a:ext cx="1490663" cy="1400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63"/>
              </a:lnSpc>
              <a:buNone/>
            </a:pPr>
            <a:r>
              <a:rPr lang="en-US" sz="14063" b="1" dirty="0">
                <a:solidFill>
                  <a:srgbClr val="15857A">
                    <a:alpha val="99000"/>
                  </a:srgbClr>
                </a:solidFill>
                <a:latin typeface="Stardos Stencil" pitchFamily="34" charset="0"/>
                <a:ea typeface="Stardos Stencil" pitchFamily="34" charset="-122"/>
                <a:cs typeface="Stardos Stencil" pitchFamily="34" charset="-120"/>
              </a:rPr>
              <a:t>2</a:t>
            </a:r>
            <a:endParaRPr lang="en-US" sz="14063" dirty="0"/>
          </a:p>
        </p:txBody>
      </p:sp>
      <p:sp>
        <p:nvSpPr>
          <p:cNvPr id="8" name="Text 6"/>
          <p:cNvSpPr/>
          <p:nvPr/>
        </p:nvSpPr>
        <p:spPr>
          <a:xfrm>
            <a:off x="5753100" y="1795463"/>
            <a:ext cx="23812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135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Attack Deep-Dives (Slides 4-8)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33525" y="1243013"/>
            <a:ext cx="1490663" cy="1400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63"/>
              </a:lnSpc>
              <a:buNone/>
            </a:pPr>
            <a:r>
              <a:rPr lang="en-US" sz="14063" b="1" dirty="0">
                <a:solidFill>
                  <a:srgbClr val="FF6A3B">
                    <a:alpha val="99000"/>
                  </a:srgbClr>
                </a:solidFill>
                <a:latin typeface="Stardos Stencil" pitchFamily="34" charset="0"/>
                <a:ea typeface="Stardos Stencil" pitchFamily="34" charset="-122"/>
                <a:cs typeface="Stardos Stencil" pitchFamily="34" charset="-120"/>
              </a:rPr>
              <a:t>1</a:t>
            </a:r>
            <a:endParaRPr lang="en-US" sz="14063" dirty="0"/>
          </a:p>
        </p:txBody>
      </p:sp>
      <p:sp>
        <p:nvSpPr>
          <p:cNvPr id="10" name="Text 8"/>
          <p:cNvSpPr/>
          <p:nvPr/>
        </p:nvSpPr>
        <p:spPr>
          <a:xfrm>
            <a:off x="2681288" y="1795463"/>
            <a:ext cx="2243138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135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Context &amp; Foundation (Slides 2-3)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05488" y="3152775"/>
            <a:ext cx="1490663" cy="1504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63"/>
              </a:lnSpc>
              <a:buNone/>
            </a:pPr>
            <a:r>
              <a:rPr lang="en-US" sz="14063" b="1" dirty="0">
                <a:solidFill>
                  <a:srgbClr val="C04277">
                    <a:alpha val="99000"/>
                  </a:srgbClr>
                </a:solidFill>
                <a:latin typeface="Stardos Stencil" pitchFamily="34" charset="0"/>
                <a:ea typeface="Stardos Stencil" pitchFamily="34" charset="-122"/>
                <a:cs typeface="Stardos Stencil" pitchFamily="34" charset="-120"/>
              </a:rPr>
              <a:t>4</a:t>
            </a:r>
            <a:endParaRPr lang="en-US" sz="14063" dirty="0"/>
          </a:p>
        </p:txBody>
      </p:sp>
      <p:sp>
        <p:nvSpPr>
          <p:cNvPr id="12" name="Text 10"/>
          <p:cNvSpPr/>
          <p:nvPr/>
        </p:nvSpPr>
        <p:spPr>
          <a:xfrm>
            <a:off x="6953250" y="3831431"/>
            <a:ext cx="1095375" cy="147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135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Q&amp;A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790825" y="3152775"/>
            <a:ext cx="1490663" cy="1504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63"/>
              </a:lnSpc>
              <a:buNone/>
            </a:pPr>
            <a:r>
              <a:rPr lang="en-US" sz="14063" b="1" dirty="0">
                <a:solidFill>
                  <a:srgbClr val="A97C50">
                    <a:alpha val="99000"/>
                  </a:srgbClr>
                </a:solidFill>
                <a:latin typeface="Stardos Stencil" pitchFamily="34" charset="0"/>
                <a:ea typeface="Stardos Stencil" pitchFamily="34" charset="-122"/>
                <a:cs typeface="Stardos Stencil" pitchFamily="34" charset="-120"/>
              </a:rPr>
              <a:t>3</a:t>
            </a:r>
            <a:endParaRPr lang="en-US" sz="14063" dirty="0"/>
          </a:p>
        </p:txBody>
      </p:sp>
      <p:sp>
        <p:nvSpPr>
          <p:cNvPr id="14" name="Text 12"/>
          <p:cNvSpPr/>
          <p:nvPr/>
        </p:nvSpPr>
        <p:spPr>
          <a:xfrm>
            <a:off x="3938588" y="3757613"/>
            <a:ext cx="19812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135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Summary &amp; Action (Slides 9-10)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ED8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485775"/>
            <a:ext cx="8477250" cy="441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475" y="695325"/>
            <a:ext cx="2009775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200" spc="36" kern="0" dirty="0">
                <a:solidFill>
                  <a:srgbClr val="DED8C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33475" y="2247900"/>
            <a:ext cx="7915275" cy="1952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 Memorization: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ML models don't just learn patterns; they often "memorize" specific training samples.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Sensitivity: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 sets often contain PHI (Protected Health Information) or PII (Personally Identifiable Information).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Goal: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This research identifies how attackers exploit models to leak this sensitive data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390650" y="762000"/>
            <a:ext cx="7396163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250"/>
              </a:lnSpc>
              <a:buNone/>
            </a:pPr>
            <a:r>
              <a:rPr lang="en-US" sz="4800" spc="-48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Why is Ml privacy an issue?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190500"/>
            <a:ext cx="258603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200" spc="36" kern="0" dirty="0">
                <a:solidFill>
                  <a:srgbClr val="FF6A3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Research Methodology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1038" y="276225"/>
            <a:ext cx="8777288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250"/>
              </a:lnSpc>
              <a:buNone/>
            </a:pPr>
            <a:r>
              <a:rPr lang="en-US" sz="4800" spc="-48" kern="0" dirty="0">
                <a:solidFill>
                  <a:srgbClr val="DED8C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Analysis of 14 Foundational Papers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1038" y="1533525"/>
            <a:ext cx="7915275" cy="3124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Selection Criteria: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High-impact, peer-reviewed papers (2012–2023).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Attack Taxonomy:</a:t>
            </a:r>
            <a:endParaRPr lang="en-US" sz="1500" dirty="0"/>
          </a:p>
          <a:p>
            <a:pPr algn="l" marL="342900" indent="-342900">
              <a:lnSpc>
                <a:spcPts val="3075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Membership Inference (3 Papers)</a:t>
            </a:r>
            <a:endParaRPr lang="en-US" sz="1500" dirty="0"/>
          </a:p>
          <a:p>
            <a:pPr algn="l" marL="342900" indent="-342900">
              <a:lnSpc>
                <a:spcPts val="3075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 Inversion (3 Papers)</a:t>
            </a:r>
            <a:endParaRPr lang="en-US" sz="1500" dirty="0"/>
          </a:p>
          <a:p>
            <a:pPr algn="l" marL="342900" indent="-342900">
              <a:lnSpc>
                <a:spcPts val="3075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Poisoning &amp; Backdoors (2 Papers)</a:t>
            </a:r>
            <a:endParaRPr lang="en-US" sz="1500" dirty="0"/>
          </a:p>
          <a:p>
            <a:pPr algn="l" marL="342900" indent="-342900">
              <a:lnSpc>
                <a:spcPts val="3075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 Extraction (2 Papers)</a:t>
            </a:r>
            <a:endParaRPr lang="en-US" sz="1500" dirty="0"/>
          </a:p>
          <a:p>
            <a:pPr algn="l" marL="342900" indent="-342900">
              <a:lnSpc>
                <a:spcPts val="3075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Property Inference &amp; Generative Attacks (2 Papers)</a:t>
            </a:r>
            <a:endParaRPr lang="en-US" sz="1500" dirty="0"/>
          </a:p>
          <a:p>
            <a:pPr algn="l" marL="342900" indent="-342900">
              <a:lnSpc>
                <a:spcPts val="3075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Meta-Surveys (2 Papers)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ED8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485775"/>
            <a:ext cx="8477250" cy="441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475" y="695325"/>
            <a:ext cx="283368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200" spc="36" kern="0" dirty="0">
                <a:solidFill>
                  <a:srgbClr val="DED8C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Membership Inference Attacks (MIA)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695325"/>
            <a:ext cx="8905875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250"/>
              </a:lnSpc>
              <a:buNone/>
            </a:pPr>
            <a:r>
              <a:rPr lang="en-US" sz="3600" spc="-36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Was this person in your dataset?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133475" y="2247900"/>
            <a:ext cx="7915275" cy="2343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Key Paper: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Shokri et al. (2017) – Introduced "Shadow Models" to learn how a model reacts to seen vs. unseen data.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Evolution: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Choquette-Choo (2021) proved attacks work with Labels only (no confidence scores needed).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 Driver: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Overfitting. The more a model overfits, the easier it is to detect training members.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ED8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190500"/>
            <a:ext cx="258603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200" spc="36" kern="0" dirty="0">
                <a:solidFill>
                  <a:srgbClr val="FF6A3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Model Inversion Attacks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1038" y="276225"/>
            <a:ext cx="8777288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250"/>
              </a:lnSpc>
              <a:buNone/>
            </a:pPr>
            <a:r>
              <a:rPr lang="en-US" sz="4800" spc="-48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Reconstructing Private Data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42963" y="1924050"/>
            <a:ext cx="7915275" cy="1952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Key Paper: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Fredrikson et al. (2015) – Reconstructed recognizable faces from a facial recognition API.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Advance: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Zhang et al. (2020) used GANs (Generative Adversarial Networks) to create high-fidelity reconstructions.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Impact: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Proves that model parameters implicitly store raw data features.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ED8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238125"/>
            <a:ext cx="8477250" cy="4667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475" y="2247900"/>
            <a:ext cx="7915275" cy="1952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Poisoning: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Biggio et al. (2012) showed that injecting malicious samples can manipulate the model's decision boundaries.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Backdoors (BadNets):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Gu et al. (2017) demonstrated "Trojan" models.</a:t>
            </a:r>
            <a:endParaRPr lang="en-US" sz="1500" dirty="0"/>
          </a:p>
          <a:p>
            <a:pPr algn="l" marL="342900" indent="-342900">
              <a:lnSpc>
                <a:spcPts val="3075"/>
              </a:lnSpc>
              <a:buSzPct val="100000"/>
              <a:buChar char="•"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Trigger: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 specific pattern (like a sticker on a stop sign) causes the model to fail, while it behaves normally on all other data.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71500" y="695325"/>
            <a:ext cx="8905875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250"/>
              </a:lnSpc>
              <a:buNone/>
            </a:pPr>
            <a:r>
              <a:rPr lang="en-US" sz="4800" spc="-48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Sabotaging the Training Process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209675" y="771525"/>
            <a:ext cx="283368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200" spc="36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Poisoning &amp; Backdoor Attacks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190500"/>
            <a:ext cx="258603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200" spc="36" kern="0" dirty="0">
                <a:solidFill>
                  <a:srgbClr val="FF6A3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Model Extraction (Stealing IP)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1038" y="276225"/>
            <a:ext cx="8777288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250"/>
              </a:lnSpc>
              <a:buNone/>
            </a:pPr>
            <a:r>
              <a:rPr lang="en-US" sz="4800" spc="-48" kern="0" dirty="0">
                <a:solidFill>
                  <a:srgbClr val="DED8C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Cloning Proprietary Models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5375" y="2085975"/>
            <a:ext cx="7915275" cy="156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Threat: T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ramèr et al. (2016) – Attackers query a Black-box API to "steal" the internal logic of a model.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Knockoff Nets: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DED8CB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Orekondy et al. (2019) – Using Reinforcement Learning to optimize queries and create a functional clone of a high-value model for free.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ED8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485775"/>
            <a:ext cx="8477250" cy="441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475" y="695325"/>
            <a:ext cx="3133725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200" spc="36" kern="0" dirty="0">
                <a:solidFill>
                  <a:srgbClr val="DED8C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Property Inference &amp; Generative Risks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33475" y="2438400"/>
            <a:ext cx="7915275" cy="156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3075"/>
              </a:lnSpc>
              <a:buSzPct val="100000"/>
              <a:buChar char="•"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Property Inference: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Ganju et al. (2018) – Extracting aggregate dataset features (e.g., gender ratios) not intended for release.</a:t>
            </a:r>
            <a:endParaRPr lang="en-US" sz="1500" dirty="0"/>
          </a:p>
          <a:p>
            <a:pPr algn="l" marL="342900" indent="-342900">
              <a:lnSpc>
                <a:spcPts val="3075"/>
              </a:lnSpc>
              <a:buSzPct val="100000"/>
              <a:buChar char="•"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Generative Models: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Song et al. (2022) – Proved that GANs and VAEs are highly susceptible to membership and attribute leakage due to high memorization.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390650" y="762000"/>
            <a:ext cx="7396163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250"/>
              </a:lnSpc>
              <a:buNone/>
            </a:pPr>
            <a:r>
              <a:rPr lang="en-US" sz="4800" spc="-48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Leaking Hidden Statistics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ED8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1457325"/>
            <a:ext cx="2119313" cy="357188"/>
          </a:xfrm>
          <a:prstGeom prst="rect">
            <a:avLst/>
          </a:prstGeom>
          <a:solidFill>
            <a:srgbClr val="FF6A3B"/>
          </a:solidFill>
          <a:ln/>
        </p:spPr>
      </p:sp>
      <p:sp>
        <p:nvSpPr>
          <p:cNvPr id="3" name="Shape 1"/>
          <p:cNvSpPr/>
          <p:nvPr/>
        </p:nvSpPr>
        <p:spPr>
          <a:xfrm>
            <a:off x="2452688" y="1457325"/>
            <a:ext cx="2119313" cy="357188"/>
          </a:xfrm>
          <a:prstGeom prst="rect">
            <a:avLst/>
          </a:prstGeom>
          <a:solidFill>
            <a:srgbClr val="4076B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1457325"/>
            <a:ext cx="2119313" cy="357188"/>
          </a:xfrm>
          <a:prstGeom prst="rect">
            <a:avLst/>
          </a:prstGeom>
          <a:solidFill>
            <a:srgbClr val="C04277"/>
          </a:solidFill>
          <a:ln/>
        </p:spPr>
      </p:sp>
      <p:sp>
        <p:nvSpPr>
          <p:cNvPr id="5" name="Shape 3"/>
          <p:cNvSpPr/>
          <p:nvPr/>
        </p:nvSpPr>
        <p:spPr>
          <a:xfrm>
            <a:off x="6691313" y="1457325"/>
            <a:ext cx="2119313" cy="357188"/>
          </a:xfrm>
          <a:prstGeom prst="rect">
            <a:avLst/>
          </a:prstGeom>
          <a:solidFill>
            <a:srgbClr val="15857A"/>
          </a:solidFill>
          <a:ln/>
        </p:spPr>
      </p:sp>
      <p:sp>
        <p:nvSpPr>
          <p:cNvPr id="6" name="Text 4"/>
          <p:cNvSpPr/>
          <p:nvPr/>
        </p:nvSpPr>
        <p:spPr>
          <a:xfrm>
            <a:off x="523875" y="2014538"/>
            <a:ext cx="21717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Membership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Inversion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Poisoning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43188" y="2014538"/>
            <a:ext cx="21717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Shokri (2017)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Fredrikson (2015)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Biggio (2012)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Tramèr (2016)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67263" y="2014538"/>
            <a:ext cx="21717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Individuals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Raw Samples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 Logic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Intellectual Property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81813" y="2014538"/>
            <a:ext cx="21717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Privacy Breach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Identity Theft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System Failure</a:t>
            </a:r>
            <a:endParaRPr lang="en-US" sz="15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Financial Loss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375" y="190500"/>
            <a:ext cx="258603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200" spc="36" kern="0" dirty="0">
                <a:solidFill>
                  <a:srgbClr val="FF6A3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Comparative Summary Table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81813" y="1571625"/>
            <a:ext cx="633413" cy="12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938" b="1" spc="94" kern="0" dirty="0">
                <a:solidFill>
                  <a:srgbClr val="000000">
                    <a:alpha val="99000"/>
                  </a:srgbClr>
                </a:solidFill>
                <a:latin typeface="BioRhyme" pitchFamily="34" charset="0"/>
                <a:ea typeface="BioRhyme" pitchFamily="34" charset="-122"/>
                <a:cs typeface="BioRhyme" pitchFamily="34" charset="-120"/>
              </a:rPr>
              <a:t>04</a:t>
            </a:r>
            <a:endParaRPr lang="en-US" sz="938" dirty="0"/>
          </a:p>
        </p:txBody>
      </p:sp>
      <p:sp>
        <p:nvSpPr>
          <p:cNvPr id="12" name="Text 10"/>
          <p:cNvSpPr/>
          <p:nvPr/>
        </p:nvSpPr>
        <p:spPr>
          <a:xfrm>
            <a:off x="7172325" y="1571625"/>
            <a:ext cx="1014413" cy="12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500" spc="150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IMPACT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2500" y="1571625"/>
            <a:ext cx="628650" cy="12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938" b="1" spc="94" kern="0" dirty="0">
                <a:solidFill>
                  <a:srgbClr val="000000">
                    <a:alpha val="99000"/>
                  </a:srgbClr>
                </a:solidFill>
                <a:latin typeface="BioRhyme" pitchFamily="34" charset="0"/>
                <a:ea typeface="BioRhyme" pitchFamily="34" charset="-122"/>
                <a:cs typeface="BioRhyme" pitchFamily="34" charset="-120"/>
              </a:rPr>
              <a:t>03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5048250" y="1571625"/>
            <a:ext cx="1790700" cy="12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500" spc="150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TARGETED ASSET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43188" y="1571625"/>
            <a:ext cx="642938" cy="12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938" b="1" spc="94" kern="0" dirty="0">
                <a:solidFill>
                  <a:srgbClr val="000000">
                    <a:alpha val="99000"/>
                  </a:srgbClr>
                </a:solidFill>
                <a:latin typeface="BioRhyme" pitchFamily="34" charset="0"/>
                <a:ea typeface="BioRhyme" pitchFamily="34" charset="-122"/>
                <a:cs typeface="BioRhyme" pitchFamily="34" charset="-120"/>
              </a:rPr>
              <a:t>02</a:t>
            </a:r>
            <a:pPr algn="l" indent="0" marL="0">
              <a:lnSpc>
                <a:spcPts val="1013"/>
              </a:lnSpc>
              <a:buNone/>
            </a:pPr>
            <a:r>
              <a:rPr lang="en-US" sz="938" spc="94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   </a:t>
            </a:r>
            <a:endParaRPr lang="en-US" sz="938" dirty="0"/>
          </a:p>
        </p:txBody>
      </p:sp>
      <p:sp>
        <p:nvSpPr>
          <p:cNvPr id="16" name="Text 14"/>
          <p:cNvSpPr/>
          <p:nvPr/>
        </p:nvSpPr>
        <p:spPr>
          <a:xfrm>
            <a:off x="2943225" y="1571625"/>
            <a:ext cx="1533525" cy="12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500" spc="150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MAJOR PAPER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3875" y="1571625"/>
            <a:ext cx="623888" cy="12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938" b="1" spc="94" kern="0" dirty="0">
                <a:solidFill>
                  <a:srgbClr val="DED8CB">
                    <a:alpha val="99000"/>
                  </a:srgbClr>
                </a:solidFill>
                <a:latin typeface="BioRhyme" pitchFamily="34" charset="0"/>
                <a:ea typeface="BioRhyme" pitchFamily="34" charset="-122"/>
                <a:cs typeface="BioRhyme" pitchFamily="34" charset="-120"/>
              </a:rPr>
              <a:t>01</a:t>
            </a:r>
            <a:pPr algn="l" indent="0" marL="0">
              <a:lnSpc>
                <a:spcPts val="1013"/>
              </a:lnSpc>
              <a:buNone/>
            </a:pPr>
            <a:r>
              <a:rPr lang="en-US" sz="938" spc="94" kern="0" dirty="0">
                <a:solidFill>
                  <a:srgbClr val="DED8C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   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804863" y="1571625"/>
            <a:ext cx="1466850" cy="12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500" spc="150" kern="0" dirty="0">
                <a:solidFill>
                  <a:srgbClr val="DED8CB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ATTACK TYPE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ED8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485775"/>
            <a:ext cx="8477250" cy="441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475" y="695325"/>
            <a:ext cx="2462213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200" spc="36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Conclusion &amp; Recommendations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52450" y="762000"/>
            <a:ext cx="9048750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250"/>
              </a:lnSpc>
              <a:buNone/>
            </a:pPr>
            <a:r>
              <a:rPr lang="en-US" sz="3600" spc="-36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How Do We Secure the Future of ML?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133475" y="2047875"/>
            <a:ext cx="7915275" cy="2343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Differential Privacy (DP):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only mathematical guarantee to limit individual data leakage.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Robust Training: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Using adversarial training and data sanitization to prevent poisoning.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Rate Limiting: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Restricting API queries to prevent model extraction.</a:t>
            </a:r>
            <a:endParaRPr lang="en-US" sz="15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1500" b="1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Final Word: </a:t>
            </a:r>
            <a:pPr algn="l" indent="0" marL="0">
              <a:lnSpc>
                <a:spcPts val="3075"/>
              </a:lnSpc>
              <a:buNone/>
            </a:pPr>
            <a:r>
              <a:rPr lang="en-US" sz="1500" dirty="0">
                <a:solidFill>
                  <a:srgbClr val="000000">
                    <a:alpha val="99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Privacy is an ongoing battle; as models get smarter, attacks get more sophisticated.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ED8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485775"/>
            <a:ext cx="8477250" cy="441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85850" y="3290888"/>
            <a:ext cx="2486025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75" spc="158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– MUHAMMAD JUNAID  – BITF22M035</a:t>
            </a:r>
            <a:endParaRPr lang="en-US" sz="1575" dirty="0"/>
          </a:p>
        </p:txBody>
      </p:sp>
      <p:sp>
        <p:nvSpPr>
          <p:cNvPr id="4" name="Text 1"/>
          <p:cNvSpPr/>
          <p:nvPr/>
        </p:nvSpPr>
        <p:spPr>
          <a:xfrm>
            <a:off x="2752725" y="1295400"/>
            <a:ext cx="5753100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250"/>
              </a:lnSpc>
              <a:buNone/>
            </a:pPr>
            <a:r>
              <a:rPr lang="en-US" sz="18188" spc="-182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q&amp;a</a:t>
            </a:r>
            <a:endParaRPr lang="en-US" sz="1818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ED8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238125"/>
            <a:ext cx="8477250" cy="4667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85925" y="881063"/>
            <a:ext cx="5753100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250"/>
              </a:lnSpc>
              <a:buNone/>
            </a:pPr>
            <a:r>
              <a:rPr lang="en-US" sz="18188" spc="-182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THANK</a:t>
            </a:r>
            <a:endParaRPr lang="en-US" sz="18188" dirty="0"/>
          </a:p>
        </p:txBody>
      </p:sp>
      <p:sp>
        <p:nvSpPr>
          <p:cNvPr id="4" name="Text 1"/>
          <p:cNvSpPr/>
          <p:nvPr/>
        </p:nvSpPr>
        <p:spPr>
          <a:xfrm>
            <a:off x="4667250" y="2752725"/>
            <a:ext cx="3438525" cy="1809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4250"/>
              </a:lnSpc>
              <a:buNone/>
            </a:pPr>
            <a:r>
              <a:rPr lang="en-US" sz="18188" spc="-182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YOU</a:t>
            </a:r>
            <a:endParaRPr lang="en-US" sz="18188" dirty="0"/>
          </a:p>
        </p:txBody>
      </p:sp>
      <p:sp>
        <p:nvSpPr>
          <p:cNvPr id="5" name="Text 2"/>
          <p:cNvSpPr/>
          <p:nvPr/>
        </p:nvSpPr>
        <p:spPr>
          <a:xfrm>
            <a:off x="1085850" y="3290888"/>
            <a:ext cx="2486025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75" spc="158" kern="0" dirty="0">
                <a:solidFill>
                  <a:srgbClr val="000000">
                    <a:alpha val="99000"/>
                  </a:srgbClr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– MUHAMMAD JUNAID  – BITF22M035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2025-12-17T22:33:05Z</dcterms:created>
  <dcterms:modified xsi:type="dcterms:W3CDTF">2025-12-17T22:33:05Z</dcterms:modified>
</cp:coreProperties>
</file>